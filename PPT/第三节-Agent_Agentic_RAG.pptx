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Agentic &amp;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8A9"/>
                </a:solidFill>
                <a:latin typeface="微软雅黑"/>
              </a:defRPr>
            </a:pPr>
            <a:r>
              <a:t>从概念到实践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36576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基于 OpenAI Function Calling / LangChain 与 ReAct 模式的智能体构建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大连民族大学 · 智能客服开发技术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📋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01  什么是 Agent？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核心概念与能力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02  ReAct 模式详解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93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Think → Act → Observe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237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03  OpenAI Function Calling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5237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代码实操 — Tool Calling + Agent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540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04  LangChain Function Calling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540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代码实操 — @tool 装饰器模式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05  OpenAI ReAct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584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代码实操 — 手动实现 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06  LangChain ReAct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代码实操 — 一行创建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45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07  什么是 RAG？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检索增强生成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08  Agentic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1755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Agent + RAG 的融合架构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058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09  Agentic RAG 代码实现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705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构建向量库 + Gradio 智能客服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什么是 Agent？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智能体的核心概念与关键能力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Agent（智能体）是一个能"感知环境 → 自主决策 → 执行行动"的 AI 程序。</a:t>
            </a:r>
            <a:br/>
            <a:br/>
            <a:r>
              <a:t>它不再是简单的"问答机器"，而是具备工具调用、推理规划、</a:t>
            </a:r>
            <a:br/>
            <a:r>
              <a:t>记忆维护等能力的主动型 AI 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572000"/>
            <a:ext cx="1737360" cy="18288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754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🧠 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3035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FF"/>
                </a:solidFill>
                <a:latin typeface="微软雅黑"/>
              </a:defRPr>
            </a:pPr>
            <a:r>
              <a:t>理解用户意图</a:t>
            </a:r>
            <a:br/>
            <a:r>
              <a:t>识别需要工具的场景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572000"/>
            <a:ext cx="1737360" cy="18288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4754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⚡ 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53035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FF"/>
                </a:solidFill>
                <a:latin typeface="微软雅黑"/>
              </a:defRPr>
            </a:pPr>
            <a:r>
              <a:t>选择正确的工具</a:t>
            </a:r>
            <a:br/>
            <a:r>
              <a:t>生成调用参数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4572000"/>
            <a:ext cx="1737360" cy="18288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4754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🛠 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53035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FF"/>
                </a:solidFill>
                <a:latin typeface="微软雅黑"/>
              </a:defRPr>
            </a:pPr>
            <a:r>
              <a:t>执行工具函数</a:t>
            </a:r>
            <a:br/>
            <a:r>
              <a:t>整合结果生成回复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LLM vs Agent：本质区别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微软雅黑"/>
              </a:defRPr>
            </a:pPr>
            <a:r>
              <a:t>传统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只能根据训练数据生成文本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无法获取实时信息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无法调用外部系统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上下文局限于单次对话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知识截止于训练日期</a:t>
            </a:r>
          </a:p>
          <a:p>
            <a:pPr>
              <a:spcAft>
                <a:spcPts val="100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无法执行具体操作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✅ 能调用工具获取实时数据（天气、时间等）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✅ 可查询外部知识库（FAQ、产品文档）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✅ 具备推理循环（ReAct 模式）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✅ 有系统提示词指导行为边界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✅ 能自主判断何时需要工具、何时直接回答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✅ 可组合多个工具解决复杂问题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ReAct 模式：Think → Act →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893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Agent 的核心推理循环：推理 + 行动 + 观察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1340" y="4114800"/>
            <a:ext cx="2560320" cy="22860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50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🤔 Think</a:t>
            </a:r>
            <a:br/>
            <a:r>
              <a:t>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49377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分析用户问题</a:t>
            </a:r>
            <a:br/>
            <a:r>
              <a:t>决定是否调用工具</a:t>
            </a:r>
            <a:br/>
            <a:r>
              <a:t>选择工具和参数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114800"/>
            <a:ext cx="2560320" cy="22860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⚡ Act</a:t>
            </a:r>
            <a:br/>
            <a:r>
              <a:t>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9377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执行工具函数</a:t>
            </a:r>
            <a:br/>
            <a:r>
              <a:t>获取实时结果</a:t>
            </a:r>
            <a:br/>
            <a:r>
              <a:t>调用外部系统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114800"/>
            <a:ext cx="2560320" cy="22860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👀 Observe</a:t>
            </a:r>
            <a:br/>
            <a:r>
              <a:t>观察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9377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将工具结果</a:t>
            </a:r>
            <a:br/>
            <a:r>
              <a:t>反馈给模型</a:t>
            </a:r>
            <a:br/>
            <a:r>
              <a:t>继续推理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4114800"/>
            <a:ext cx="2560320" cy="22860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💬 Answer</a:t>
            </a:r>
            <a:br/>
            <a:r>
              <a:t>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49377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整合所有信息</a:t>
            </a:r>
            <a:br/>
            <a:r>
              <a:t>生成最终回复</a:t>
            </a:r>
            <a:br/>
            <a:r>
              <a:t>呈现给用户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ReAct 循环伪代码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4754880"/>
          </a:xfrm>
          <a:prstGeom prst="roundRect">
            <a:avLst>
              <a:gd name="adj" fmla="val 7198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def agent_loop(messages):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# Think: 模型分析问题，决定下一步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response = llm.chat(messages, tools=tools)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if response.has_tool_calls():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# Act: 执行工具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for tool_call in response.tool_calls: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result = execute_function(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    tool_call.name,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    tool_call.arguments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# Observe: 将结果反馈给模型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messages.append(tool_result(result))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else: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# Answer: 返回最终回复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return response.text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6263640"/>
            <a:ext cx="914400" cy="32004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Think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6263640"/>
            <a:ext cx="914400" cy="3200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6263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6263640"/>
            <a:ext cx="914400" cy="32004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6263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Observe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6263640"/>
            <a:ext cx="914400" cy="3200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6263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5240" y="546735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5240" y="1186815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OpenAI Function Calling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240" y="2284095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01_openai_agentic.py — 使用 OpenAI SDK 手动构建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5240" y="3107055"/>
            <a:ext cx="2743200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1245" y="2682875"/>
            <a:ext cx="5044440" cy="3938270"/>
          </a:xfrm>
          <a:prstGeom prst="roundRect">
            <a:avLst>
              <a:gd name="adj" fmla="val 6772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8090" y="3020060"/>
            <a:ext cx="4688840" cy="3274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# 1️⃣ 定义工具函数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def get_weather(city_name): ...      # 调用天气 API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def get_current_time(): ...          # 返回系统时间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def search_faq(keyword): ...         # 搜索 FAQ 知识库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# 2️⃣ 函数调度表（路由）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available_functions = {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"get_weather": get_weather,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"get_current_time": get_current_time,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"search_faq": search_faq,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89120"/>
            <a:ext cx="53035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4440" y="312534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函数 = 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2379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每个 Python 函数对应一个 AI 可调用的工具，</a:t>
            </a:r>
            <a:br/>
            <a:r>
              <a:t>函数签名即工具的接口契约。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440" y="381114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调度表 = 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858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函数名到函数对象的字典映射，</a:t>
            </a:r>
            <a:br/>
            <a:r>
              <a:t>实现动态函数分发。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4440" y="449694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Tool 定义 = 说明书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911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用 JSON Schema 描述工具的名称、</a:t>
            </a:r>
            <a:br/>
            <a:r>
              <a:t>参数和用途，让模型学会使用。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Tool 定义：AI 可读的"使用说明书"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>
              <a:gd name="adj" fmla="val 6824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tools = [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"type": "function",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"function": {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"name": "get_weather",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"description": "获取指定城市的天气信息",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"parameters": {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"type": "object",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"properties": {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    "city_name": {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        "type": "string",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        "description": "城市名称，例如 大连市",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    },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},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    "required": ["city_name"],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},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},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# ... get_current_time, search_faq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4592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工具的唯一标识，与 Python 函数名对应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65176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告诉模型这个工具做什么、什么时候用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65760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JSON Schema 格式的参数定义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66344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声明哪些参数是必须传入的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521335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61415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LangChain Function Calling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4355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02_langchain_agentic.py — @tool 装饰器与 LangChain 集成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0700" y="3081655"/>
            <a:ext cx="2743200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50620" y="2807335"/>
            <a:ext cx="5943600" cy="3685540"/>
          </a:xfrm>
          <a:prstGeom prst="roundRect">
            <a:avLst>
              <a:gd name="adj" fmla="val 9148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944495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from langchain_core.tools import tool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def get_weather(city_name: str) -&gt; str: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"""获取指定城市的天气信息"""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return _get_weather(city_name)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def search_faq(keyword: str) -&gt; str: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"""搜索常见问题库"""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    ...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tools = [get_weather, search_faq, get_current_time]</a:t>
            </a:r>
          </a:p>
          <a:p>
            <a:pPr>
              <a:spcAft>
                <a:spcPts val="200"/>
              </a:spcAft>
              <a:defRPr sz="1300">
                <a:solidFill>
                  <a:srgbClr val="ABB2BF"/>
                </a:solidFill>
                <a:latin typeface="Menlo" panose="020B0609030804020204"/>
              </a:defRPr>
            </a:pPr>
            <a:r>
              <a:t>llm_with_tools = llm.bind_tools(tools)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898775"/>
            <a:ext cx="4389120" cy="6858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39" y="294449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✨ @tool 装饰器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39" y="32188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自动从函数签名和 docstring 生成</a:t>
            </a:r>
            <a:br/>
            <a:r>
              <a:t>JSON Schema 格式的 Tool 定义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676015"/>
            <a:ext cx="4389120" cy="6858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39" y="372173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⚡ bind_tools()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39" y="399605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一行代码将工具绑定到 LLM，</a:t>
            </a:r>
            <a:br/>
            <a:r>
              <a:t>LangChain 自动处理工具调用协议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4453255"/>
            <a:ext cx="4389120" cy="763905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39" y="449897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📦 ToolMessage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477329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专用的消息类型，区分</a:t>
            </a:r>
            <a:br/>
            <a:r>
              <a:t>工具结果与普通对话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OpenAI ReAct Agent 手动实现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7419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03_openai_react.py — System Prompt + 迭代循环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348865"/>
            <a:ext cx="7388860" cy="4370705"/>
          </a:xfrm>
          <a:prstGeom prst="roundRect">
            <a:avLst>
              <a:gd name="adj" fmla="val 6959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486025"/>
            <a:ext cx="6833870" cy="4271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SYSTEM_PROMPT = (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"你是一个智能客服助手，你可以使用工具来获取实时信息以回答用户问题。"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"请根据用户的问题合理选择工具，如果不需要工具则直接回答。"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def run_agent(user_input: str, max_turns: int = 10) -&gt; str: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messages = [system, user_input]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for _ in range(max_turns):          # 防无限循环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response = llm.chat(messages)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msg = response.choices[0].message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messages.append(msg)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if not msg.tool_calls:           # Think → Answer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return msg.content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for tc in msg.tool_calls:        # Act → Observe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args = json.loads(tc.function.arguments)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result = TOOL_FUNCTIONS[tc.function.name](**args)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messages.append({"role": "tool", ...})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82750"/>
            <a:ext cx="3291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0103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🔒 max_turns=10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7535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防止 Agent 无限循环的保险机制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82750"/>
            <a:ext cx="3291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01165"/>
            <a:ext cx="249301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📝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7535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定义 Agent 的身份和行为准则，引导决策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82750"/>
            <a:ext cx="3291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0103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🔄 for 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97535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每次迭代 = 一次完整的 ReAct 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02385" y="50419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2385" y="114427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LangChain ReAct Agent — 一行创建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2385" y="224155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04_langchain_react.py — LangGraph 驱动的 ReAct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69005" y="3064510"/>
            <a:ext cx="2743200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28925" y="2790190"/>
            <a:ext cx="6090920" cy="2752725"/>
          </a:xfrm>
          <a:prstGeom prst="roundRect">
            <a:avLst>
              <a:gd name="adj" fmla="val 10703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0235" y="3027045"/>
            <a:ext cx="5577840" cy="2279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from langchain.agents import create_agent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# ✨ 一行创建完整的 ReAct Agent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agent = create_agent(model=llm, tools=tools)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# 使用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result = agent.invoke({"messages": [("user", "杭州的天气怎么样？")]})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Menlo" panose="020B0609030804020204"/>
              </a:defRPr>
            </a:pPr>
            <a:r>
              <a:t>print(result["messages"][-1].content)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四种 Agent 实现方式对比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5943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实现方式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1600200" cy="5943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45920"/>
            <a:ext cx="2514600" cy="5943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核心机制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645920"/>
            <a:ext cx="1325880" cy="5943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复杂度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645920"/>
            <a:ext cx="1600200" cy="59436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灵活性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86000"/>
            <a:ext cx="2514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01_openai_agentic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286000"/>
            <a:ext cx="1600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OpenAI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286000"/>
            <a:ext cx="2514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手动 agent_loop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2286000"/>
            <a:ext cx="1325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2286000"/>
            <a:ext cx="1600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⭐⭐⭐⭐⭐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26080"/>
            <a:ext cx="25146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02_langchain_agentic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2926080"/>
            <a:ext cx="16002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LangChain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2926080"/>
            <a:ext cx="25146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@tool + bind_tools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2926080"/>
            <a:ext cx="132588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3063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2926080"/>
            <a:ext cx="16002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⭐⭐⭐⭐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566160"/>
            <a:ext cx="2514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03_openai_react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3566160"/>
            <a:ext cx="1600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OpenAI SDK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3566160"/>
            <a:ext cx="2514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for 循环 + SysPrompt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3566160"/>
            <a:ext cx="132588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3703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0" y="3566160"/>
            <a:ext cx="160020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⭐⭐⭐⭐⭐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206240"/>
            <a:ext cx="25146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04_langchain_react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1840" y="4206240"/>
            <a:ext cx="16002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LangChain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4206240"/>
            <a:ext cx="25146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create_agent() 一行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0" y="4206240"/>
            <a:ext cx="132588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3524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4206240"/>
            <a:ext cx="1600200" cy="5943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⭐⭐⭐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841375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0" y="1481455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什么是 RAG？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2578735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Retrieval-Augmented Generation — 检索增强生成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" y="3127375"/>
            <a:ext cx="2011680" cy="2286000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60" y="326453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📄 文档</a:t>
            </a:r>
            <a:br/>
            <a:r>
              <a:t>切分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4041775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Markdown</a:t>
            </a:r>
            <a:br/>
            <a:r>
              <a:t>Header Splitter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37674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6560" y="3127375"/>
            <a:ext cx="2011680" cy="2286000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0" y="326453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🔢 向量</a:t>
            </a:r>
            <a:br/>
            <a:r>
              <a:t>嵌入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4041775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Jina Embeddings</a:t>
            </a:r>
            <a:br/>
            <a:r>
              <a:t>v5-text-small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8240" y="37674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0" y="3127375"/>
            <a:ext cx="2011680" cy="2286000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25440" y="326453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🗄 向量</a:t>
            </a:r>
            <a:br/>
            <a:r>
              <a:t>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5440" y="4041775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Milvus</a:t>
            </a:r>
            <a:br/>
            <a:r>
              <a:t>向量数据库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680" y="37674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1440" y="3127375"/>
            <a:ext cx="2011680" cy="2286000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02880" y="326453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🔍 语义</a:t>
            </a:r>
            <a:br/>
            <a:r>
              <a:t>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2880" y="4041775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相似度搜索</a:t>
            </a:r>
            <a:br/>
            <a:r>
              <a:t>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3120" y="37674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8A9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88880" y="3127375"/>
            <a:ext cx="2011680" cy="2286000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80320" y="326453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🤖 LLM</a:t>
            </a:r>
            <a:br/>
            <a:r>
              <a:t>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320" y="4041775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上下文增强</a:t>
            </a:r>
            <a:br/>
            <a:r>
              <a:t>精准回答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为什么需要 RAG？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9144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❌ LLM 的知识截止问题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模型训练数据存在截止日期，不知道最新产品信息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914400"/>
          </a:xfrm>
          <a:prstGeom prst="round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✅ RAG 的解决方案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从知识库检索最新文档，作为 LLM 的上下文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5029200" cy="9144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❌ 幻觉问题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LLM 可能编造不存在的产品规格或政策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212080" cy="914400"/>
          </a:xfrm>
          <a:prstGeom prst="round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✅ 检索真实信息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基于实际文档生成回答，显著降低幻觉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5029200" cy="9144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❌ 专业领域知识不足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通用模型缺乏特定领域（如手机型号参数）的精细知识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5212080" cy="914400"/>
          </a:xfrm>
          <a:prstGeom prst="round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✅ 领域知识注入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无需重新训练模型，更换知识库即可适配新领域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66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0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Agentic RAG — Agent + RAG 的融合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9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让 Agent 自主决定何时检索、检索什么、如何使用检索结果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800" y="2987040"/>
            <a:ext cx="5029200" cy="228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8400" y="308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传统 Agent（无 RAG）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360" y="3429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工具数量固定且有限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只能返回「硬编码」或 API 获取的数据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无法理解产品文档等非结构化文本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知识边界受限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46400"/>
            <a:ext cx="5029200" cy="22860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08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Agentic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586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✅ 将 RAG 检索封装为一个 Agent 工具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✅ Agent 自主判断何时需要检索知识库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✅ 可根据用户问题动态生成检索查询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✅ 检索结果作为上下文供给 LLM 推理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✅ Agent 可组合 RAG + 其他工具（天气等）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Agentic RAG 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13716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用户</a:t>
            </a:r>
            <a:br/>
            <a:r>
              <a:t>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2011680" cy="13716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ReAct</a:t>
            </a:r>
            <a:br/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2011680" cy="13716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知识库</a:t>
            </a:r>
            <a:br/>
            <a:r>
              <a:t>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2011680" cy="13716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天气</a:t>
            </a:r>
            <a:br/>
            <a:r>
              <a:t>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828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103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最终</a:t>
            </a:r>
            <a:br/>
            <a:r>
              <a:t>回答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4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10515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Agent 工作流程：</a:t>
            </a:r>
            <a:br/>
            <a:r>
              <a:t>① 用户提问 → ② Agent Think（判断是否需要检索）</a:t>
            </a:r>
            <a:br/>
            <a:r>
              <a:t>③ 调用 search_phone_docs() 工具 → ④ Milvus 语义检索</a:t>
            </a:r>
            <a:br/>
            <a:r>
              <a:t>⑤ 工具结果返回 Agent → ⑥ Agent 整合信息 → ⑦ 生成回答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3291840" cy="109728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🧩 RAG 作为工具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97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search_phone_docs 就是一个</a:t>
            </a:r>
            <a:br/>
            <a:r>
              <a:t>普通的 Agent Tool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5486400"/>
            <a:ext cx="3291840" cy="109728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577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🤖 自主决策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97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Agent 自己决定</a:t>
            </a:r>
            <a:br/>
            <a:r>
              <a:t>何时调用知识库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5486400"/>
            <a:ext cx="3291840" cy="109728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5577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🔗 多工具组合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897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知识检索 + 天气查询</a:t>
            </a:r>
            <a:br/>
            <a:r>
              <a:t>等工具协同工作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Agentic RAG vs 传统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50292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对比维度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45920"/>
            <a:ext cx="4114800" cy="50292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传统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45920"/>
            <a:ext cx="4114800" cy="50292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Agentic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检索触发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24028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331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每次提问都检索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24028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331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Agent 自主判断是否检索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1828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查询生成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83464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2926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直接使用用户原话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83464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926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Agent 可改写/优化查询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2900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520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多工具协作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342900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520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仅检索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42900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520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检索 + 天气 + 时间等多工具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23360"/>
            <a:ext cx="1828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14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上下文管理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402336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4114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静态拼接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02336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114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Agent 动态管理多轮上下文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61772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错误处理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51760" y="461772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709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检索不到即失败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61772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4709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Agent 可重试/换策略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212080"/>
            <a:ext cx="1828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303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可解释性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51760" y="521208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5303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黑盒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5212080"/>
            <a:ext cx="4114800" cy="502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5303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Think → Act → Observe 可追溯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80644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897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灵活性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51760" y="580644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8920" y="5897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固定流程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0" y="5806440"/>
            <a:ext cx="4114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60" y="5897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Agent 自主决策路线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42037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6045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构建向量库 — 知识库的基石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5773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01_build_vectorstore.py — Markdown 文档 → 向量数据库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6765" y="2937510"/>
            <a:ext cx="2743200" cy="54864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7315" y="2663190"/>
            <a:ext cx="6478905" cy="3737610"/>
          </a:xfrm>
          <a:prstGeom prst="roundRect">
            <a:avLst>
              <a:gd name="adj" fmla="val 8341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9565" y="280035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步骤1：加载 Markdown 文件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loader = DirectoryLoader("./data/phone_docs/zh/", glob="**/*.md")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raw_docs = loader.load()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步骤2：按标题层级切分（保留上下文）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splitter = MarkdownHeaderTextSplitter(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headers_to_split_on=[("#", "H1"), ("##", "H2"), ("###", "H3")],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步骤3：向量化并存入 Milvus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embeddings = JinaEmbeddings(model="jina-embeddings-v5-text-small")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vector_store = Milvus(embedding_function=embeddings, ...)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vector_store.add_documents(documents=result_chunks)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4814" y="4200398"/>
            <a:ext cx="4114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4814" y="266052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📄 17 个 MD 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4814" y="285229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涵盖售前咨询、售后</a:t>
            </a:r>
            <a:br/>
            <a:r>
              <a:t>服务、产品规格全部类别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4814" y="4552188"/>
            <a:ext cx="4114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4814" y="33507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🔪 Markdown 切分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4815" y="439356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按 H1/H2/H3 层级切分</a:t>
            </a:r>
            <a:br/>
            <a:r>
              <a:t>保留标题上下文信息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4815" y="4161155"/>
            <a:ext cx="250253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🔢 Jina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4814" y="5215128"/>
            <a:ext cx="3657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v5-text-small 模型将文本转为向量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4814" y="493699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🗄 Milvus 向量库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4814" y="3640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本地嵌入式向量数据库</a:t>
            </a:r>
            <a:br/>
            <a:r>
              <a:t>COSINE 相似度检索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Agentic RAG 核心：将检索封装为 Agent 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70210" cy="3830320"/>
          </a:xfrm>
          <a:prstGeom prst="roundRect">
            <a:avLst>
              <a:gd name="adj" fmla="val 9322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步骤1：定义 RAG 检索函数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def search_milvus(question: str, top_k: int = 5) -&gt; list[dict]: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docs = vector_store.similarity_search(question, k=top_k)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return [{"text": doc.page_content, "source": doc.metadata["source"]}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for doc in docs]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步骤2：封装为 Agent Tool（用 @tool 装饰器）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def search_phone_docs(question: str) -&gt; str: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"""搜索手机产品资料库，查询手机规格、价格、参数等"""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results = search_milvus(question)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return "\n\n".join(r["text"] for r in results)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步骤3：将 RAG 工具注册到 Agent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tools = [search_phone_docs, get_weather, get_current_time]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agent = create_agent(model=llm, tools=tools,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system_prompt="你是一个手机商城智能客服助手...")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3383280" cy="9144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1: 检索函数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FF"/>
                </a:solidFill>
                <a:latin typeface="微软雅黑"/>
              </a:defRPr>
            </a:pPr>
            <a:r>
              <a:t>封装 Milvus 相似度搜索，返回文档片段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5486400"/>
            <a:ext cx="3383280" cy="9144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2: Tool 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FF"/>
                </a:solidFill>
                <a:latin typeface="微软雅黑"/>
              </a:defRPr>
            </a:pPr>
            <a:r>
              <a:t>用 @tool 装饰器将检索函数变为 Agent 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5486400"/>
            <a:ext cx="3383280" cy="91440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Step 3: 注册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FF"/>
                </a:solidFill>
                <a:latin typeface="微软雅黑"/>
              </a:defRPr>
            </a:pPr>
            <a:r>
              <a:t>将 RAG 工具与其他工具一起绑定到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73787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795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智能客服工具集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47523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手机商城智能体可调用的全部工具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40990"/>
            <a:ext cx="35661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815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📱 search_phone_docs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4391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56DB"/>
                </a:solidFill>
                <a:latin typeface="微软雅黑"/>
              </a:defRPr>
            </a:pPr>
            <a:r>
              <a:t>RAG 知识检索工具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6395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功能：搜索手机产品资料库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数据源：17 个 MD 文档（规格/售前/售后）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检索方式：Milvus 向量语义搜索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返回：最相似的 Top-5 文档片段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40990"/>
            <a:ext cx="35661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7815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🌤 get_weather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4391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56DB"/>
                </a:solidFill>
                <a:latin typeface="微软雅黑"/>
              </a:defRPr>
            </a:pPr>
            <a:r>
              <a:t>实时天气查询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6395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功能：获取指定城市天气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数据源：高德地图 API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支持任意城市名称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返回：温度、天气状况、风力等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931920"/>
            <a:ext cx="35661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97815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🕐 get_current_time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4391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56DB"/>
                </a:solidFill>
                <a:latin typeface="微软雅黑"/>
              </a:defRPr>
            </a:pPr>
            <a:r>
              <a:t>系统时间查询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6395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功能：获取当前系统时间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数据源：系统本地时间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无需参数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返回：年月日 时分秒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Gradio 交互界面 — 智能客服演示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>
              <a:gd name="adj" fmla="val 5381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def chat(question, history):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# 流式返回 Agent 的思考过程与回复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for chunk, metadata in agent.stream(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{"messages": messages}, stream_mode="messages"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):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node = metadata.get("langgraph_node", "")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if node == "model" and chunk.content: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# 逐个 token 返回模型生成的最终回答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yield answer_so_far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elif node == "tools":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# 显示工具调用过程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        yield f"🔧 调用工具: {tool_name}()"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# 启动界面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gr.ChatInterface(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fn=chat,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title="智能客服助手",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description="基于 ReAct Agent + RAG 的智能客服系统",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    examples=["小米15多少钱？", "杭州的天气怎么样？", ...]</a:t>
            </a:r>
          </a:p>
          <a:p>
            <a:pPr>
              <a:spcAft>
                <a:spcPts val="200"/>
              </a:spcAft>
              <a:defRPr sz="1200">
                <a:solidFill>
                  <a:srgbClr val="ABB2BF"/>
                </a:solidFill>
                <a:latin typeface="Menlo" panose="020B0609030804020204"/>
              </a:defRPr>
            </a:pPr>
            <a:r>
              <a:t>).launch(server_name="0.0.0.0", server_port=7865)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💬 流式输出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逐 token 显示</a:t>
            </a:r>
            <a:br/>
            <a:r>
              <a:t>实时展示 Agent 思考过程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74320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788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🔧 工具可视化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工具调用和返回结果</a:t>
            </a:r>
            <a:br/>
            <a:r>
              <a:t>在界面中可折叠展示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84048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886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📝 示例问题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内置 5 个示例问题</a:t>
            </a:r>
            <a:br/>
            <a:r>
              <a:t>一键测试各种场景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93776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/>
              </a:defRPr>
            </a:pPr>
            <a:r>
              <a:t>🌐 多工具协同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57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RAG + 天气 + 时间</a:t>
            </a:r>
            <a:br/>
            <a:r>
              <a:t>一个界面完成全部功能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流式输出：Agent 思考过程可视化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4754880"/>
          </a:xfrm>
          <a:prstGeom prst="roundRect">
            <a:avLst>
              <a:gd name="adj" fmla="val 7932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用户: 小米15 16GB + 512GB多少钱？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BB2BF"/>
                </a:solidFill>
                <a:latin typeface="微软雅黑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665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BB2BF"/>
                </a:solidFill>
                <a:latin typeface="微软雅黑"/>
              </a:defRPr>
            </a:pPr>
            <a:r>
              <a:t>🤖 Agent 推理过程: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225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BB2BF"/>
                </a:solidFill>
                <a:latin typeface="微软雅黑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8A9"/>
                </a:solidFill>
                <a:latin typeface="微软雅黑"/>
              </a:defRPr>
            </a:pPr>
            <a:r>
              <a:t>🔧 调用工具: search_phone_docs("小米15 价格 16GB 512GB")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BB2BF"/>
                </a:solidFill>
                <a:latin typeface="微软雅黑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微软雅黑"/>
              </a:defRPr>
            </a:pPr>
            <a:r>
              <a:t>📎 工具返回: 小米15 16GB+512GB 售价 4999 元...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BB2BF"/>
                </a:solidFill>
                <a:latin typeface="微软雅黑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💬 最终回答: 小米15 16GB + 512GB 版本目前售价为 4999 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BB2BF"/>
                </a:solidFill>
                <a:latin typeface="微软雅黑"/>
              </a:defRPr>
            </a:pPr>
            <a:r>
              <a:t>            这款手机搭载了高通骁龙 8 Elite 处理器...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6916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stream_mode="messages"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0116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LangGraph 的消息级流式模式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60604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651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langgraph_node 元数据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71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区分当前节点：model /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56616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tool_call_chunks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31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工具调用的流式片段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526280"/>
            <a:ext cx="41148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572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逐 token 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最终回答可逐字流式显示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问答示例：多工具协同工作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一个提问可能触发多个工具，Agent 自主规划路线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6320" y="3108960"/>
            <a:ext cx="1828800" cy="41148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3480" y="3154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用户提问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2280" y="3108960"/>
            <a:ext cx="3657600" cy="41148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9440" y="3154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支持的内容类型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97040" y="3108960"/>
            <a:ext cx="4114800" cy="411480"/>
          </a:xfrm>
          <a:prstGeom prst="round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420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示例问题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320" y="3611880"/>
            <a:ext cx="18288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3480" y="3657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产品咨询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2280" y="3611880"/>
            <a:ext cx="36576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9440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手机规格、价格、参数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97040" y="3611880"/>
            <a:ext cx="41148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4200" y="3657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小米15 16GB+512GB多少钱？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6320" y="4114800"/>
            <a:ext cx="1828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3480" y="4160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售后问题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2280" y="4114800"/>
            <a:ext cx="3657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94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退货政策、保修条款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97040" y="411480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4200" y="4160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手机屏幕碎了保修吗？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320" y="4617720"/>
            <a:ext cx="18288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348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实时查询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02280" y="4617720"/>
            <a:ext cx="36576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9440" y="4663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天气、时间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97040" y="4617720"/>
            <a:ext cx="41148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4200" y="4663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杭州的天气怎么样？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6320" y="5120640"/>
            <a:ext cx="1828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3480" y="5166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综合问题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02280" y="5120640"/>
            <a:ext cx="3657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39440" y="5166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多工具组合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97040" y="5120640"/>
            <a:ext cx="41148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4200" y="5166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今天大连天气怎么样？适合买小米15吗？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320" y="4663440"/>
            <a:ext cx="10515600" cy="91440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0640" y="4709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💡 综合示例：「今天大连天气怎么样？适合买小米15吗？」</a:t>
            </a:r>
            <a:br/>
            <a:r>
              <a:t>Agent 会先调用 get_weather() 查询天气，再调用 search_phone_docs() 检索小米15的防水/耐温参数，组合回答。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完整数据流：从用户提问到最终回答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7040" y="1859915"/>
            <a:ext cx="2103120" cy="146304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8480" y="199707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用户</a:t>
            </a:r>
            <a:br/>
            <a:r>
              <a:t>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480" y="2499995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我想买手机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0160" y="2225675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4480" y="1859915"/>
            <a:ext cx="2103120" cy="146304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5920" y="199707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Agent</a:t>
            </a:r>
            <a:br/>
            <a:r>
              <a:t>Think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5920" y="2499995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需要查询</a:t>
            </a:r>
            <a:br/>
            <a:r>
              <a:t>产品资料库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7600" y="2225675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1920" y="1859915"/>
            <a:ext cx="2103120" cy="146304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3360" y="199707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RAG</a:t>
            </a:r>
            <a:br/>
            <a:r>
              <a:t>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3360" y="2499995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Milvus</a:t>
            </a:r>
            <a:br/>
            <a:r>
              <a:t>相似度搜索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5040" y="2225675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9360" y="1859915"/>
            <a:ext cx="2103120" cy="146304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0800" y="199707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工具</a:t>
            </a:r>
            <a:br/>
            <a:r>
              <a:t>返回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0800" y="2499995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文档片段</a:t>
            </a:r>
            <a:br/>
            <a:r>
              <a:t>作为上下文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2480" y="2225675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6800" y="1859915"/>
            <a:ext cx="2103120" cy="1463040"/>
          </a:xfrm>
          <a:prstGeom prst="round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8240" y="199707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Agent</a:t>
            </a:r>
            <a:br/>
            <a: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8240" y="2499995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生成最终</a:t>
            </a:r>
            <a:br/>
            <a:r>
              <a:t>回答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7120" y="36887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1️⃣ 用户输入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0320" y="368871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自然语言提问，如「小米15多少钱？」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7120" y="40727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2️⃣ Agent 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0320" y="407276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LLM 分析问题，选择 search_phone_docs 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7120" y="44568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3️⃣ RAG 检索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0320" y="4456811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Milvus 向量库执行语义搜索，返回 Top-5 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7120" y="48408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4️⃣ 工具结果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0320" y="484085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文档片段注入 Agent 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7120" y="52249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5️⃣ 生成回答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0320" y="522490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LLM 基于检索结果 + 自身能力生成最终回复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技术栈一览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2A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A9"/>
                </a:solidFill>
                <a:latin typeface="微软雅黑"/>
              </a:defRPr>
            </a:pPr>
            <a:r>
              <a:t>🤖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DeepSeek V4 Flash</a:t>
            </a:r>
            <a:br/>
            <a:r>
              <a:t>（兼容 OpenAI SDK）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2A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A9"/>
                </a:solidFill>
                <a:latin typeface="微软雅黑"/>
              </a:defRPr>
            </a:pPr>
            <a:r>
              <a:t>🔧 Agent 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OpenAI Function Calling</a:t>
            </a:r>
            <a:br/>
            <a:r>
              <a:t>LangChain / LangGraph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2A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A9"/>
                </a:solidFill>
                <a:latin typeface="微软雅黑"/>
              </a:defRPr>
            </a:pPr>
            <a:r>
              <a:t>🔢 向量嵌入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Jina Embeddings</a:t>
            </a:r>
            <a:br/>
            <a:r>
              <a:t>v5-text-small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2A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A9"/>
                </a:solidFill>
                <a:latin typeface="微软雅黑"/>
              </a:defRPr>
            </a:pPr>
            <a:r>
              <a:t>🗄 向量数据库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Milvus (Lite)</a:t>
            </a:r>
            <a:br/>
            <a:r>
              <a:t>本地嵌入式部署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1828800"/>
          </a:xfrm>
          <a:prstGeom prst="roundRect">
            <a:avLst/>
          </a:prstGeom>
          <a:solidFill>
            <a:srgbClr val="2A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A9"/>
                </a:solidFill>
                <a:latin typeface="微软雅黑"/>
              </a:defRPr>
            </a:pPr>
            <a:r>
              <a:t>🌐 数据源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高德天气 API</a:t>
            </a:r>
            <a:br/>
            <a:r>
              <a:t>Markdown 产品文档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1828800"/>
          </a:xfrm>
          <a:prstGeom prst="roundRect">
            <a:avLst/>
          </a:prstGeom>
          <a:solidFill>
            <a:srgbClr val="2A3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A9"/>
                </a:solidFill>
                <a:latin typeface="微软雅黑"/>
              </a:defRPr>
            </a:pPr>
            <a:r>
              <a:t>🖥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Gradio</a:t>
            </a:r>
            <a:br/>
            <a:r>
              <a:t>交互式聊天界面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从零到一：完整实现路径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Step 1</a:t>
            </a:r>
            <a:br/>
            <a:r>
              <a:t>基础 LLM 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8A9"/>
                </a:solidFill>
                <a:latin typeface="微软雅黑"/>
              </a:defRPr>
            </a:pPr>
            <a:r>
              <a:t>01_openai_agentic.py</a:t>
            </a:r>
            <a:br/>
            <a:r>
              <a:t>02_langchain_agentic.py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掌握 Tool Calling 基础</a:t>
            </a:r>
            <a:br/>
            <a:r>
              <a:t>手动实现 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Step 2</a:t>
            </a:r>
            <a:br/>
            <a:r>
              <a:t>ReAct 循环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8A9"/>
                </a:solidFill>
                <a:latin typeface="微软雅黑"/>
              </a:defRPr>
            </a:pPr>
            <a:r>
              <a:t>03_openai_react.py</a:t>
            </a:r>
            <a:br/>
            <a:r>
              <a:t>04_langchain_react.py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理解 Think → Act → Observe</a:t>
            </a:r>
            <a:br/>
            <a:r>
              <a:t>System Prompt 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828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Step 3</a:t>
            </a:r>
            <a:br/>
            <a:r>
              <a:t>构建知识库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8A9"/>
                </a:solidFill>
                <a:latin typeface="微软雅黑"/>
              </a:defRPr>
            </a:pPr>
            <a:r>
              <a:t>13_agentic_RAG/</a:t>
            </a:r>
            <a:br/>
            <a:r>
              <a:t>01_build_vectorstore.py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文档加载与切分</a:t>
            </a:r>
            <a:br/>
            <a:r>
              <a:t>向量化入库 Milvus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828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微软雅黑"/>
              </a:defRPr>
            </a:pPr>
            <a:r>
              <a:t>Step 4</a:t>
            </a:r>
            <a:br/>
            <a:r>
              <a:t>Agentic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8A9"/>
                </a:solidFill>
                <a:latin typeface="微软雅黑"/>
              </a:defRPr>
            </a:pPr>
            <a:r>
              <a:t>13_agentic_RAG/</a:t>
            </a:r>
            <a:br/>
            <a:r>
              <a:t>02_agentic_rag_gradio.py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RAG 封装为 Agent Tool</a:t>
            </a:r>
            <a:br/>
            <a:r>
              <a:t>多工具协同 + Gradio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365" y="622935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/>
              </a:defRPr>
            </a:pPr>
            <a: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365" y="1263015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核心要点回顾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365" y="205867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Agentic &amp; Agentic RAG 的关键概念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515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7605" y="277177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🎯 Agent 的本质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005" y="2771775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LLM + 工具 + 循环决策 = 智能体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62272"/>
            <a:ext cx="10515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7605" y="33021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🔄 ReAct 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005" y="3302127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Think(推理) → Act(行动) → Observe(观察) → Answer(回答)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92624"/>
            <a:ext cx="10515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7605" y="3832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🔧 Tool Calling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005" y="3832479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将任意 Python 函数封装为 AI 可调用的工具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22976"/>
            <a:ext cx="10515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7605" y="43628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📚 RAG 的作用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005" y="4362831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通过向量检索为 Agent 注入外部知识，减少幻觉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7605" y="48931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🤝 Agentic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8005" y="4893183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Agent 自主决定何时检索、如何检索、如何使用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7605" y="542353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微软雅黑"/>
              </a:defRPr>
            </a:pPr>
            <a:r>
              <a:t>🖥 Gradio 交互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8005" y="5423535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流式展示 Agent 思考过程，提升可解释性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27432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Agent 是 LLM 能力的延伸 — 通过工具调用突破知识截止和纯文本的限制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ReAct 模式是 Agent 的核心推理框架 — Think → Act → Observe 闭环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OpenAI Function Calling 和 LangChain 分别提供了不同抽象层次的 Agent 实现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RAG 解决了大模型的知识固化问题 — 让 Agent 具备动态检索能力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Agentic RAG = Agent 自主决策 × RAG 知识检索 — 1+1 &gt; 2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从手动 Agent Loop 到 LangChain 一行创建 Agent，渐进式理解更深刻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拓展方向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🔄 多 Agent 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多个专业 Agent 协同工作</a:t>
            </a:r>
            <a:br/>
            <a:r>
              <a:t>如：售前 Agent + 售后 Agent + 物流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🧠 长期记忆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引入对话历史持久化</a:t>
            </a:r>
            <a:br/>
            <a:r>
              <a:t>Agent 记住用户偏好和历史交互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📊 复杂推理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多步推理链（Chain-of-Thought）</a:t>
            </a:r>
            <a:br/>
            <a:r>
              <a:t>分步解决复杂问题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🔒 安全与对齐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工具调用权限控制</a:t>
            </a:r>
            <a:br/>
            <a:r>
              <a:t>敏感信息过滤与审计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🌐 多模态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图片/表格/PDF 等非文本内容检索</a:t>
            </a:r>
            <a:br/>
            <a:r>
              <a:t>多模态 LLM 理解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⚡ 性能优化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缓存常用检索结果</a:t>
            </a:r>
            <a:br/>
            <a:r>
              <a:t>异步并行调用多个工具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谢谢！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743200" cy="3657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8A9"/>
                </a:solidFill>
                <a:latin typeface="微软雅黑"/>
              </a:defRPr>
            </a:pPr>
            <a:r>
              <a:t>Agentic &amp; Agentic RAG — 从概念到实践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微软雅黑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10570</Words>
  <Application>WPS 表格</Application>
  <PresentationFormat>On-screen Show (4:3)</PresentationFormat>
  <Paragraphs>972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Arial</vt:lpstr>
      <vt:lpstr>宋体</vt:lpstr>
      <vt:lpstr>Wingdings</vt:lpstr>
      <vt:lpstr>Arial</vt:lpstr>
      <vt:lpstr>微软雅黑</vt:lpstr>
      <vt:lpstr>汉仪旗黑</vt:lpstr>
      <vt:lpstr>Menlo</vt:lpstr>
      <vt:lpstr>Calibri</vt:lpstr>
      <vt:lpstr>Helvetica Neue</vt:lpstr>
      <vt:lpstr>宋体</vt:lpstr>
      <vt:lpstr>汉仪书宋二KW</vt:lpstr>
      <vt:lpstr>微软雅黑</vt:lpstr>
      <vt:lpstr>Arial Unicode MS</vt:lpstr>
      <vt:lpstr>Menlo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zzh</cp:lastModifiedBy>
  <cp:revision>32</cp:revision>
  <dcterms:created xsi:type="dcterms:W3CDTF">2026-06-13T16:02:42Z</dcterms:created>
  <dcterms:modified xsi:type="dcterms:W3CDTF">2026-06-13T16:02:42Z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F4AD821CDC8E9E998A7B2D6AA1DEAC7D_42</vt:lpwstr>
  </property>
  <property fmtid="{D5CDD505-2E9C-101B-9397-08002B2CF9AE}" pid="3" name="KSOProductBuildVer">
    <vt:lpwstr>2052-6.15.1.8935</vt:lpwstr>
  </property>
</Properties>
</file>